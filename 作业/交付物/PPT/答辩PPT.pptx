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政务数字门户平台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01E"/>
                </a:solidFill>
                <a:latin typeface="微软雅黑"/>
              </a:defRPr>
            </a:pPr>
            <a:r>
              <a:t>项目答辩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微软雅黑"/>
              </a:defRPr>
            </a:pPr>
            <a:r>
              <a:t>基于鲲鹏ARM + FusionCompute + Docker 容器化的国产化解决方案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888888"/>
                </a:solidFill>
                <a:latin typeface="微软雅黑"/>
              </a:defRPr>
            </a:pPr>
            <a:r>
              <a:t>小组：实训第X组</a:t>
            </a:r>
          </a:p>
          <a:p>
            <a:pPr>
              <a:spcAft>
                <a:spcPts val="600"/>
              </a:spcAft>
              <a:defRPr sz="1400">
                <a:solidFill>
                  <a:srgbClr val="888888"/>
                </a:solidFill>
                <a:latin typeface="微软雅黑"/>
              </a:defRPr>
            </a:pPr>
            <a:r>
              <a:t>成员：王振光（PM+架构）  胡翰斌（Infra）  刘永涛（App）  王浩乐（Ops）</a:t>
            </a:r>
          </a:p>
          <a:p>
            <a:pPr>
              <a:spcAft>
                <a:spcPts val="600"/>
              </a:spcAft>
              <a:defRPr sz="1400">
                <a:solidFill>
                  <a:srgbClr val="888888"/>
                </a:solidFill>
                <a:latin typeface="微软雅黑"/>
              </a:defRPr>
            </a:pPr>
            <a:r>
              <a:t>班级：24计算机科学与技术4班</a:t>
            </a:r>
          </a:p>
          <a:p>
            <a:pPr>
              <a:spcAft>
                <a:spcPts val="600"/>
              </a:spcAft>
              <a:defRPr sz="1400">
                <a:solidFill>
                  <a:srgbClr val="888888"/>
                </a:solidFill>
                <a:latin typeface="微软雅黑"/>
              </a:defRPr>
            </a:pPr>
            <a:r>
              <a:t>日期：2026年7月3日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客户的痛点 —— 为什么需要这个项目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2 / 18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微软雅黑"/>
              </a:defRPr>
            </a:pPr>
            <a:r>
              <a:t>技术文档分散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各部门格式不统一，检索困难，知识无法沉淀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83464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微软雅黑"/>
              </a:defRPr>
            </a:pPr>
            <a:r>
              <a:t>信创合规压力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现有系统x86架构，不满足国产化要求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02336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977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微软雅黑"/>
              </a:defRPr>
            </a:pPr>
            <a:r>
              <a:t>交付效率低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新部门需要数周才能搭建一套系统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521208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166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微软雅黑"/>
              </a:defRPr>
            </a:pPr>
            <a:r>
              <a:t>运维能力弱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623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没有监控、没有备份、出问题才发现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基于鲲鹏ARM + FusionCompute + Docker容器技术，搭建一套可复制的政务数字门户POC平台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软雅黑"/>
              </a:defRPr>
            </a:pPr>
            <a:r>
              <a:t>100% 国产化技术栈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鲲鹏 + FusionCompute + openEuler + Halo</a:t>
            </a:r>
            <a:br/>
            <a:r>
              <a:t>完全自主可控，满足信创要求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容器化一键部署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微软雅黑"/>
              </a:defRPr>
            </a:pPr>
            <a:r>
              <a:t>deploy.sh ≤30分钟</a:t>
            </a:r>
            <a:br/>
            <a:r>
              <a:t>换台机器也能快速搭一套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软雅黑"/>
              </a:defRPr>
            </a:pPr>
            <a:r>
              <a:t>完整运维体系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监控 + 备份 + 恢复 + 审计 + 快照</a:t>
            </a:r>
            <a:br/>
            <a:r>
              <a:t>不只是能跑，更是可维护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可复制模板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微软雅黑"/>
              </a:defRPr>
            </a:pPr>
            <a:r>
              <a:t>支撑后续10个部门</a:t>
            </a:r>
            <a:br/>
            <a:r>
              <a:t>实现快速上线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项目团队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4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E"/>
                </a:solidFill>
                <a:latin typeface="微软雅黑"/>
              </a:defRPr>
            </a:pPr>
            <a:r>
              <a:t>王振光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项目经理 + 架构设计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383280"/>
            <a:ext cx="1645920" cy="2743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总体负责、系统设计</a:t>
            </a:r>
            <a:br/>
            <a:r>
              <a:t>文档管理、答辩汇报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E"/>
                </a:solidFill>
                <a:latin typeface="微软雅黑"/>
              </a:defRPr>
            </a:pPr>
            <a:r>
              <a:t>胡翰斌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基础设施工程师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383280"/>
            <a:ext cx="1645920" cy="2743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566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FusionCompute操作</a:t>
            </a:r>
            <a:br/>
            <a:r>
              <a:t>VM管理、Docker环境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E"/>
                </a:solidFill>
                <a:latin typeface="微软雅黑"/>
              </a:defRPr>
            </a:pPr>
            <a:r>
              <a:t>刘永涛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应用开发工程师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383280"/>
            <a:ext cx="1645920" cy="2743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博客系统选型部署</a:t>
            </a:r>
            <a:br/>
            <a:r>
              <a:t>Compose编排、前后端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E"/>
                </a:solidFill>
                <a:latin typeface="微软雅黑"/>
              </a:defRPr>
            </a:pPr>
            <a:r>
              <a:t>王浩乐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运维工程师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3383280"/>
            <a:ext cx="1645920" cy="2743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3566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Nginx/数据库/监控</a:t>
            </a:r>
            <a:br/>
            <a:r>
              <a:t>备份脚本、一键部署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技术架构全景图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5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50292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用户层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浏览器 Chrome/Firefox/Edge/360 — HTTPS :443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011680"/>
            <a:ext cx="91440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057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代理层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Nginx 1.24（反向代理 + SSL终端 + 静态缓存）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651760"/>
            <a:ext cx="91440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6974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应用层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7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Halo v2.x 博客（Markdown/代码高亮/全文检索/评论/审核）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91839"/>
            <a:ext cx="91440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3755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MySQL 8.0（持久化至 /data/mysql，仅业务网可访问）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931920"/>
            <a:ext cx="914400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容器层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7763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Docker CE 24.x + Docker Compose v2.20（7个容器编排）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572000"/>
            <a:ext cx="9144000" cy="50292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监控层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6177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Prometheus + Grafana + node_exporter + cAdvisor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212079"/>
            <a:ext cx="9144000" cy="50292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25779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OS层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25779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openEuler 22.03 LTS SP2（ARM64）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852159"/>
            <a:ext cx="9144000" cy="5029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8978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硬件层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89787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鲲鹏TaiShan 200 + FusionCompute 8.x（HA+DRS）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🔥 100% 国产化技术栈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6 /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国产化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芯片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鲲鹏 920（ARM64）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 华为自研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虚拟化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FusionCompute 8.x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 华为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操作系统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openEuler 22.03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 华为开源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博客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Halo v2.x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 国产开源(30k⭐)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MySQL 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 ARM64官方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代理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Nginx 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 ARM64官方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Prometheus+Grafana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 CNCF标准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容器化部署 —— Docker Compose 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一条命令 docker compose up -d 启动全部 7 个容器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011680"/>
            <a:ext cx="7315200" cy="50292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halo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博客应用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57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:8090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651760"/>
            <a:ext cx="73152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数据库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:3306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291840"/>
            <a:ext cx="7315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反向代理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37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:80/443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931920"/>
            <a:ext cx="73152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977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prometheus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监控采集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776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:9090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572000"/>
            <a:ext cx="7315200" cy="50292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4617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grafana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617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监控大盘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17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:3000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5212080"/>
            <a:ext cx="731520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node_exporter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257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主机指标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:9100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852159"/>
            <a:ext cx="7315200" cy="50292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58978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cadvisor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897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容器指标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8978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:8080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网络拓扑 —— 双网隔离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8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572000" cy="41148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VLAN 10 — 管理网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微软雅黑"/>
              </a:defRPr>
            </a:pPr>
            <a:r>
              <a:t>192.168.10.0/24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VM-01（管理节点）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  dmp-mgmt-01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  2vCPU / 4GB / 40GB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  192.168.10.10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Docker Registry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  （镜像仓库）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VLAN 20 — 业务网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微软雅黑"/>
              </a:defRPr>
            </a:pPr>
            <a:r>
              <a:t>192.168.20.0/24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VM-02（业务节点）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  dmp-svc-01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  2vCPU / 4GB / 40GB + 100GB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  192.168.20.10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Halo + MySQL + Nginx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Prometheus + Grafana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node_exporter + cAdvisor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/>
              </a:defRPr>
            </a:pPr>
            <a:r>
              <a:t>🔒 安全组：仅开放 22/80/443 | 3306 仅业务网可访问 | 管理网禁访数据库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01E"/>
                </a:solidFill>
                <a:latin typeface="微软雅黑"/>
              </a:defRPr>
            </a:pPr>
            <a:r>
              <a:t>🎬 现场演示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1️⃣    SSH 登录 VM-02    →    uname -m = aarch64    ✅ ARM架构确认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2️⃣    docker ps    →    7个容器全部 UP    ✅ 容器正常运行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3️⃣    浏览器访问 https://192.168.20.10    →    博客首页展示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4️⃣    发布 Markdown 文章    →    草稿 → 审核 → 前台可见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5️⃣    docker rm -f mysql → docker compose up -d mysql    →    数据完整不丢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6️⃣    Grafana 监控大盘    →    CPU/内存/容器状态实时展示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内容安全 —— 审核工作流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10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743200" cy="13716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作者发布</a:t>
            </a:r>
            <a:br/>
            <a:r>
              <a:t>（草稿）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2743200" cy="1371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提交审核</a:t>
            </a:r>
            <a:br/>
            <a:r>
              <a:t>（待审核）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286000"/>
            <a:ext cx="274320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审核员通过</a:t>
            </a:r>
            <a:br/>
            <a:r>
              <a:t>（已发布）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微软雅黑"/>
              </a:defRPr>
            </a:pPr>
            <a:r>
              <a:t>驳回 → 退回作者修改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480560"/>
            <a:ext cx="27432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🔥 一键部署能力 —— 30分钟从零到上线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[1/6] 检查 Docker 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783080"/>
            <a:ext cx="2560320" cy="2286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[2/6] 拉取镜像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~5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60320"/>
            <a:ext cx="1280160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[3/6] 生成 SSL 证书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~10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337560"/>
            <a:ext cx="2880360" cy="2286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[4/6] 创建数据目录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~5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114800"/>
            <a:ext cx="3040379" cy="2286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[5/6] 启动容器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~3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892040"/>
            <a:ext cx="1760219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[6/6] 等待服务就绪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532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~2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669280"/>
            <a:ext cx="2080260" cy="2286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微软雅黑"/>
              </a:defRPr>
            </a:pPr>
            <a:r>
              <a:t>总计: ~28 分钟 ✅  (目标 ≤30min)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运维完备性 —— 不只是能跑，更是可维护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12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软雅黑"/>
              </a:defRPr>
            </a:pPr>
            <a:r>
              <a:t>📊 监控大盘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Grafana+Prometheus</a:t>
            </a:r>
            <a:br/>
            <a:r>
              <a:t>CPU/内存/容器/网络</a:t>
            </a:r>
            <a:br/>
            <a:r>
              <a:t>容器重启自动恢复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软雅黑"/>
              </a:defRPr>
            </a:pPr>
            <a:r>
              <a:t>💾 自动备份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517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backup.sh + crontab</a:t>
            </a:r>
            <a:br/>
            <a:r>
              <a:t>每日 02:00 全量备份</a:t>
            </a:r>
            <a:br/>
            <a:r>
              <a:t>压缩存储，保留7天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软雅黑"/>
              </a:defRPr>
            </a:pPr>
            <a:r>
              <a:t>♻️ 一键恢复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备份→恢复 完整验证</a:t>
            </a:r>
            <a:br/>
            <a:r>
              <a:t>RTO ≤ 30 分钟</a:t>
            </a:r>
            <a:br/>
            <a:r>
              <a:t>RPO ≤ 24 小时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软雅黑"/>
              </a:defRPr>
            </a:pPr>
            <a:r>
              <a:t>📋 日志审计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26517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SSH登录 + 命令记录</a:t>
            </a:r>
            <a:br/>
            <a:r>
              <a:t>保留90天</a:t>
            </a:r>
            <a:br/>
            <a:r>
              <a:t>操作可追溯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性能数据 —— 用数字说话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13 /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146304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页面响应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≤3秒 (95分位)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2.1秒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并发用户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错误率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≥20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恢复时间 (RTO)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≤30分钟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28分钟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数据恢复 (RPO)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≤24小时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24小时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兼容性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国产浏览器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安全设计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🔒   HTTPS 全站加密（TLS 1.2/1.3），80 端口强制跳转 443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🔒   管理网/业务网物理隔离，安全组仅开放必要端口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🔒   数据库端口 3306 仅绑定业务网 IP，拒绝管理网访问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🔒   SSH 登录日志 + 命令审计日志，保留 90 天可追溯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🔒   博客审核工作流：草稿 → 提交审核 → 审核员通过/驳回 → 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🔒   容器以最小权限运行，Docker 日志限制 10MB x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1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🔒   VM 快照 4 个关键节点，故障时可随时回滚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01E"/>
                </a:solidFill>
                <a:latin typeface="微软雅黑"/>
              </a:defRPr>
            </a:pPr>
            <a:r>
              <a:t>三大核心竞争力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15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1️⃣  全栈国产化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鲲鹏ARM + FusionCompute</a:t>
            </a:r>
            <a:br/>
            <a:r>
              <a:t>+ openEuler + Halo</a:t>
            </a:r>
            <a:br/>
            <a:r>
              <a:t>→ 完全自主可控</a:t>
            </a:r>
            <a:br/>
            <a:r>
              <a:t>  满足信创要求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383280" cy="4572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2️⃣  容器化可复制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docker compose up -d</a:t>
            </a:r>
            <a:br/>
            <a:r>
              <a:t>+ deploy.sh</a:t>
            </a:r>
            <a:br/>
            <a:r>
              <a:t>→ 30分钟内部署</a:t>
            </a:r>
            <a:br/>
            <a:r>
              <a:t>  到任意鲲鹏环境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383280" cy="4572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3️⃣  运维完备性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监控 + 备份 + 恢复</a:t>
            </a:r>
            <a:br/>
            <a:r>
              <a:t>+ 审计 + 快照</a:t>
            </a:r>
            <a:br/>
            <a:r>
              <a:t>→ 不是能跑就行</a:t>
            </a:r>
            <a:br/>
            <a:r>
              <a:t>  是有人维护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交付物清单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📄  项目需求分析（基于 BRD → SRS 转化）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📄  系统架构设计（架构图 + 技术栈 + 设计决策）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📄  部署实施手册（从零到上线的每一步操作）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📄  运维操作手册（日常运维 + 故障处理 + 巡检清单）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📊  华为项目管理模板（02策划任务书 + 04进度计划 + 07会议纪要×4）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4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💻  Docker Compose 编排 + Nginx 配置 + 监控配置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🔧  deploy.sh 一键部署脚本 + backup.sh 自动备份脚本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3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🎬  答辩 PPT（本演示）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微软雅黑"/>
              </a:defRPr>
            </a:pPr>
            <a:r>
              <a:t>项目收获与踩坑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💡 技术层面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ARM架构容器化部署全流程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Docker Compose多服务编排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Prometheus+Grafana监控搭建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国产化全栈技术验证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💡 工程层面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BRD需求→SRS技术转化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项目管理策划→执行→监控→交付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文档驱动的知识转移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- 团队协作与分工效率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74C3C"/>
                </a:solidFill>
                <a:latin typeface="微软雅黑"/>
              </a:defRPr>
            </a:pPr>
            <a:r>
              <a:t>⚠️ 踩过的坑</a:t>
            </a:r>
          </a:p>
          <a:p>
            <a:pPr>
              <a:spcAft>
                <a:spcPts val="600"/>
              </a:spcAft>
              <a:defRPr sz="1500">
                <a:solidFill>
                  <a:srgbClr val="E74C3C"/>
                </a:solidFill>
                <a:latin typeface="微软雅黑"/>
              </a:defRPr>
            </a:pPr>
            <a:r>
              <a:t>- Docker Hub国内拉取慢</a:t>
            </a:r>
          </a:p>
          <a:p>
            <a:pPr>
              <a:spcAft>
                <a:spcPts val="600"/>
              </a:spcAft>
              <a:defRPr sz="1500">
                <a:solidFill>
                  <a:srgbClr val="E74C3C"/>
                </a:solidFill>
                <a:latin typeface="微软雅黑"/>
              </a:defRPr>
            </a:pPr>
            <a:r>
              <a:t>  → 阿里云镜像加速+离线包</a:t>
            </a:r>
          </a:p>
          <a:p>
            <a:pPr>
              <a:spcAft>
                <a:spcPts val="600"/>
              </a:spcAft>
              <a:defRPr sz="1500">
                <a:solidFill>
                  <a:srgbClr val="E74C3C"/>
                </a:solidFill>
                <a:latin typeface="微软雅黑"/>
              </a:defRPr>
            </a:pPr>
            <a:r>
              <a:t>- ARM64镜像兼容性</a:t>
            </a:r>
          </a:p>
          <a:p>
            <a:pPr>
              <a:spcAft>
                <a:spcPts val="600"/>
              </a:spcAft>
              <a:defRPr sz="1500">
                <a:solidFill>
                  <a:srgbClr val="E74C3C"/>
                </a:solidFill>
                <a:latin typeface="微软雅黑"/>
              </a:defRPr>
            </a:pPr>
            <a:r>
              <a:t>  → 提前验证官方镜像支持</a:t>
            </a:r>
          </a:p>
          <a:p>
            <a:pPr>
              <a:spcAft>
                <a:spcPts val="600"/>
              </a:spcAft>
              <a:defRPr sz="1500">
                <a:solidFill>
                  <a:srgbClr val="E74C3C"/>
                </a:solidFill>
                <a:latin typeface="微软雅黑"/>
              </a:defRPr>
            </a:pPr>
            <a:r>
              <a:t>- 自签名证书浏览器警告</a:t>
            </a:r>
          </a:p>
          <a:p>
            <a:pPr>
              <a:spcAft>
                <a:spcPts val="600"/>
              </a:spcAft>
              <a:defRPr sz="1500">
                <a:solidFill>
                  <a:srgbClr val="E74C3C"/>
                </a:solidFill>
                <a:latin typeface="微软雅黑"/>
              </a:defRPr>
            </a:pPr>
            <a:r>
              <a:t>  → POC阶段可接受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01E"/>
                </a:solidFill>
                <a:latin typeface="微软雅黑"/>
              </a:defRPr>
            </a:pPr>
            <a:r>
              <a:t>感谢聆听，请老师指正！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微软雅黑"/>
              </a:defRPr>
            </a:pPr>
            <a:r>
              <a:t>政务数字门户平台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基于鲲鹏ARM + 容器化的国产化解决方案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小组：第X组    |    王振光    胡翰斌    刘永涛    王浩乐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